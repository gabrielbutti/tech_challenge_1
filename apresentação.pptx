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K+wwczBvHaE4uzONyqyQUNuHB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Classificação NPS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3D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16-4CE9-BDC4-1DABF15E2BD1}"/>
              </c:ext>
            </c:extLst>
          </c:dPt>
          <c:dPt>
            <c:idx val="1"/>
            <c:bubble3D val="0"/>
            <c:spPr>
              <a:solidFill>
                <a:srgbClr val="5F7A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16-4CE9-BDC4-1DABF15E2BD1}"/>
              </c:ext>
            </c:extLst>
          </c:dPt>
          <c:dPt>
            <c:idx val="2"/>
            <c:bubble3D val="0"/>
            <c:spPr>
              <a:solidFill>
                <a:srgbClr val="33D6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16-4CE9-BDC4-1DABF15E2BD1}"/>
              </c:ext>
            </c:extLst>
          </c:dPt>
          <c:dLbls>
            <c:dLbl>
              <c:idx val="0"/>
              <c:layout>
                <c:manualLayout>
                  <c:x val="-7.3804837147941993E-17"/>
                  <c:y val="0"/>
                </c:manualLayout>
              </c:layout>
              <c:tx>
                <c:rich>
                  <a:bodyPr/>
                  <a:lstStyle/>
                  <a:p>
                    <a:pPr>
                      <a:defRPr sz="1100" b="1" i="0" u="none" strike="noStrike">
                        <a:solidFill>
                          <a:srgbClr val="FFFFFF"/>
                        </a:solidFill>
                        <a:latin typeface="Trebuchet MS"/>
                      </a:defRPr>
                    </a:pPr>
                    <a:r>
                      <a:rPr lang="en-US"/>
                      <a:t>80%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616-4CE9-BDC4-1DABF15E2BD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Trebuchet MS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616-4CE9-BDC4-1DABF15E2BD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100" b="1" i="0" u="none" strike="noStrike">
                        <a:solidFill>
                          <a:srgbClr val="FFFFFF"/>
                        </a:solidFill>
                        <a:latin typeface="Trebuchet MS"/>
                      </a:defRPr>
                    </a:pPr>
                    <a:r>
                      <a:rPr lang="en-US"/>
                      <a:t>6%</a:t>
                    </a:r>
                  </a:p>
                </c:rich>
              </c:tx>
              <c:numFmt formatCode="0%" sourceLinked="0"/>
              <c:spPr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616-4CE9-BDC4-1DABF15E2BD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Detratores</c:v>
                </c:pt>
                <c:pt idx="1">
                  <c:v>Neutros</c:v>
                </c:pt>
                <c:pt idx="2">
                  <c:v>Promotores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616-4CE9-BDC4-1DABF15E2B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81A2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FC6CE"/>
                </a:solidFill>
                <a:latin typeface="Trebuchet MS"/>
              </a:defRPr>
            </a:pPr>
            <a:r>
              <a:rPr lang="pt-BR" sz="1200" b="0" i="0" u="none" strike="noStrike">
                <a:solidFill>
                  <a:srgbClr val="AFC6CE"/>
                </a:solidFill>
                <a:latin typeface="Trebuchet MS"/>
              </a:rPr>
              <a:t>NPS médio por dias de atraso na entrega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 médio</c:v>
                </c:pt>
              </c:strCache>
            </c:strRef>
          </c:tx>
          <c:spPr>
            <a:ln w="44450" cap="flat">
              <a:solidFill>
                <a:srgbClr val="33D6E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D6E0"/>
              </a:solidFill>
              <a:ln w="9525" cap="flat">
                <a:solidFill>
                  <a:srgbClr val="33D6E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6.9</c:v>
                </c:pt>
                <c:pt idx="1">
                  <c:v>5.6</c:v>
                </c:pt>
                <c:pt idx="2">
                  <c:v>4.5999999999999996</c:v>
                </c:pt>
                <c:pt idx="3">
                  <c:v>3.4</c:v>
                </c:pt>
                <c:pt idx="4">
                  <c:v>2.4</c:v>
                </c:pt>
                <c:pt idx="5">
                  <c:v>1.5</c:v>
                </c:pt>
                <c:pt idx="6">
                  <c:v>1.1000000000000001</c:v>
                </c:pt>
                <c:pt idx="7">
                  <c:v>0.3</c:v>
                </c:pt>
                <c:pt idx="8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952-4F06-9CAA-90E7EB6CA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AA3AC"/>
                    </a:solidFill>
                    <a:latin typeface="Arial"/>
                  </a:defRPr>
                </a:pPr>
                <a:r>
                  <a:rPr lang="pt-BR" sz="900" b="0" i="0" u="none" strike="noStrike">
                    <a:solidFill>
                      <a:srgbClr val="8AA3AC"/>
                    </a:solidFill>
                    <a:latin typeface="Arial"/>
                  </a:rPr>
                  <a:t>Dias de atraso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FC6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1630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FC6C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A2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FC6CE"/>
                </a:solidFill>
                <a:latin typeface="Trebuchet MS"/>
              </a:defRPr>
            </a:pPr>
            <a:r>
              <a:rPr lang="pt-BR" sz="1200" b="0" i="0" u="none" strike="noStrike">
                <a:solidFill>
                  <a:srgbClr val="AFC6CE"/>
                </a:solidFill>
                <a:latin typeface="Trebuchet MS"/>
              </a:rPr>
              <a:t>NPS médio por região (escala 0–10)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 médio</c:v>
                </c:pt>
              </c:strCache>
            </c:strRef>
          </c:tx>
          <c:spPr>
            <a:solidFill>
              <a:srgbClr val="33D6E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Trebuchet M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Centro-Oeste</c:v>
                </c:pt>
                <c:pt idx="1">
                  <c:v>Norte</c:v>
                </c:pt>
                <c:pt idx="2">
                  <c:v>Sudeste</c:v>
                </c:pt>
                <c:pt idx="3">
                  <c:v>Nordeste</c:v>
                </c:pt>
                <c:pt idx="4">
                  <c:v>Sul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</c:v>
                </c:pt>
                <c:pt idx="1">
                  <c:v>4.4000000000000004</c:v>
                </c:pt>
                <c:pt idx="2">
                  <c:v>4.4000000000000004</c:v>
                </c:pt>
                <c:pt idx="3">
                  <c:v>4.4000000000000004</c:v>
                </c:pt>
                <c:pt idx="4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BE-49BF-9ECE-F9462EC581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FC6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1630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FC6C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A2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FC6CE"/>
                </a:solidFill>
                <a:latin typeface="Trebuchet MS"/>
              </a:defRPr>
            </a:pPr>
            <a:r>
              <a:rPr lang="pt-BR" sz="1200" b="0" i="0" u="none" strike="noStrike">
                <a:solidFill>
                  <a:srgbClr val="AFC6CE"/>
                </a:solidFill>
                <a:latin typeface="Trebuchet MS"/>
              </a:rPr>
              <a:t>NPS médio por recompra em 30 dias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 médio</c:v>
                </c:pt>
              </c:strCache>
            </c:strRef>
          </c:tx>
          <c:spPr>
            <a:solidFill>
              <a:srgbClr val="5F7A8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3B-40E9-B82E-A6A017777BFD}"/>
              </c:ext>
            </c:extLst>
          </c:dPt>
          <c:dPt>
            <c:idx val="1"/>
            <c:invertIfNegative val="0"/>
            <c:bubble3D val="0"/>
            <c:spPr>
              <a:solidFill>
                <a:srgbClr val="33D6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3B-40E9-B82E-A6A017777BF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Trebuchet M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Sem recompra em 30 dias</c:v>
                </c:pt>
                <c:pt idx="1">
                  <c:v>Com recompra em 30 dias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3.9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E3B-40E9-B82E-A6A017777B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FC6C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1630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FC6C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A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chart" Target="../charts/char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chart" Target="../charts/chart4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"/>
          <p:cNvSpPr/>
          <p:nvPr/>
        </p:nvSpPr>
        <p:spPr>
          <a:xfrm>
            <a:off x="1969477" y="1608994"/>
            <a:ext cx="5205046" cy="1951892"/>
          </a:xfrm>
          <a:prstGeom prst="rect">
            <a:avLst/>
          </a:prstGeom>
          <a:solidFill>
            <a:srgbClr val="12070E">
              <a:alpha val="38039"/>
            </a:srgbClr>
          </a:solidFill>
          <a:ln>
            <a:noFill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140080" y="1820008"/>
            <a:ext cx="6863840" cy="1473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7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3D7F"/>
                </a:solidFill>
                <a:latin typeface="Trebuchet MS"/>
                <a:ea typeface="Trebuchet MS"/>
                <a:cs typeface="Trebuchet MS"/>
                <a:sym typeface="Trebuchet MS"/>
              </a:rPr>
              <a:t>POS TECH  ·  AI SCIENTIST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lang="en-US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Case NPS Preditivo</a:t>
            </a:r>
            <a:endParaRPr/>
          </a:p>
          <a:p>
            <a:pPr indent="0" lvl="0" marL="0" marR="0" rtl="0" algn="ctr">
              <a:spcBef>
                <a:spcPts val="900"/>
              </a:spcBef>
              <a:spcAft>
                <a:spcPts val="0"/>
              </a:spcAft>
              <a:buClr>
                <a:srgbClr val="AFC6C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Tech Challenge  ·  Fase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0" y="13716"/>
            <a:ext cx="9144000" cy="5143500"/>
          </a:xfrm>
          <a:prstGeom prst="rect">
            <a:avLst/>
          </a:prstGeom>
          <a:solidFill>
            <a:srgbClr val="03090D">
              <a:alpha val="2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0" y="2414368"/>
            <a:ext cx="6583680" cy="2706624"/>
          </a:xfrm>
          <a:prstGeom prst="rect">
            <a:avLst/>
          </a:prstGeom>
          <a:solidFill>
            <a:srgbClr val="03090D">
              <a:alpha val="7803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TECH CHALLENGE · FASE 1   —   CASE NPS PREDITIVO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48640" y="2600768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lang="en-US"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Por que perdemos promotores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lang="en-US"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antes mesmo de perguntar?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66928" y="3903792"/>
            <a:ext cx="56316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650"/>
              <a:buFont typeface="Calibri"/>
              <a:buNone/>
            </a:pPr>
            <a:r>
              <a:rPr lang="en-US" sz="16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O que os dados de NPS revelam sobre a experiência do cliente no e-commerce — e como agir antes da pesquisa.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66928" y="473659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AC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A3AC"/>
                </a:solidFill>
                <a:latin typeface="Calibri"/>
                <a:ea typeface="Calibri"/>
                <a:cs typeface="Calibri"/>
                <a:sym typeface="Calibri"/>
              </a:rPr>
              <a:t>Storytelling com dados  ·  POSTECH AI Scientist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02920" y="512064"/>
            <a:ext cx="457200" cy="457200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02920" y="512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8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41018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097280" y="384048"/>
            <a:ext cx="7589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Crescer rápido cobrou seu preço na experiência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02920" y="1600200"/>
            <a:ext cx="4617720" cy="3063240"/>
          </a:xfrm>
          <a:prstGeom prst="rect">
            <a:avLst/>
          </a:prstGeom>
          <a:solidFill>
            <a:srgbClr val="081A24">
              <a:alpha val="92156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777240" y="182880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e-commerce cresceu em ritmo acelerado: </a:t>
            </a:r>
            <a:r>
              <a:rPr lang="en-US" sz="14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mais pedidos, mais entregas e mais interações com o cliente. O ganho de escala veio acompanhado de </a:t>
            </a:r>
            <a:r>
              <a:rPr b="1" lang="en-US" sz="1450">
                <a:solidFill>
                  <a:srgbClr val="33D6E0"/>
                </a:solidFill>
                <a:latin typeface="Calibri"/>
                <a:ea typeface="Calibri"/>
                <a:cs typeface="Calibri"/>
                <a:sym typeface="Calibri"/>
              </a:rPr>
              <a:t>alta variabilidade no NPS</a:t>
            </a:r>
            <a:r>
              <a:rPr lang="en-US" sz="14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 entre perfis de clientes.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777240" y="3246120"/>
            <a:ext cx="41148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Com indicadores operacionais parecidos, </a:t>
            </a: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uns viram promotores e outros, detratores.</a:t>
            </a:r>
            <a:r>
              <a:rPr lang="en-US" sz="14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 Hoje o NPS só é medido no fim da jornada — tarde demais para corrigir a rota.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4068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POR QUE ISSO IMPORTA PARA O NEGÓCIO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40680" y="1975104"/>
            <a:ext cx="3200400" cy="841248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623560" y="206654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Recompra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623560" y="2340864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Clientes satisfeitos compram de novo e elevam o valor ao longo do tempo.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440680" y="2907792"/>
            <a:ext cx="3200400" cy="841248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623560" y="29992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Boca a boca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623560" y="3273552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Promotores indicam a marca; detratores afastam novos clientes.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440680" y="3840480"/>
            <a:ext cx="3200400" cy="841248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623560" y="39319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Market share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623560" y="4206240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Em e-commerce, reputação e NPS se traduzem em participação de mercado.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02920" y="512064"/>
            <a:ext cx="457200" cy="457200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2920" y="512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8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41018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97280" y="384048"/>
            <a:ext cx="7589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O que buscamos responder: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02920" y="1691640"/>
            <a:ext cx="5074920" cy="2971800"/>
          </a:xfrm>
          <a:prstGeom prst="rect">
            <a:avLst/>
          </a:prstGeom>
          <a:solidFill>
            <a:srgbClr val="081A24">
              <a:alpha val="92156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77240" y="1920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MODELO DE NEGÓCIO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77240" y="2286000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b="1" i="1" lang="en-US" sz="1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“Quais fatores operacionais realmente influenciam a satisfação do cliente — e como agir de forma proativa antes da pesquisa de NPS?”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77240" y="39776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806440" y="1691640"/>
            <a:ext cx="2834640" cy="2971800"/>
          </a:xfrm>
          <a:prstGeom prst="rect">
            <a:avLst/>
          </a:prstGeom>
          <a:solidFill>
            <a:srgbClr val="13070E">
              <a:alpha val="92156"/>
            </a:srgbClr>
          </a:solidFill>
          <a:ln cap="flat" cmpd="sng" w="12700">
            <a:solidFill>
              <a:srgbClr val="5A1E3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035040" y="192024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7F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F3D7F"/>
                </a:solidFill>
                <a:latin typeface="Trebuchet MS"/>
                <a:ea typeface="Trebuchet MS"/>
                <a:cs typeface="Trebuchet MS"/>
                <a:sym typeface="Trebuchet MS"/>
              </a:rPr>
              <a:t>MODELO  (PROPOSTA)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035040" y="2423160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Trebuchet MS"/>
              <a:buNone/>
            </a:pPr>
            <a:r>
              <a:rPr b="1" i="1" lang="en-US" sz="16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“Conseguimos prever o NPS de um cliente antes mesmo de ele responder à pesquisa?”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972837" y="4122150"/>
            <a:ext cx="263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Antecipar a nota = agir preventivamente.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02920" y="512064"/>
            <a:ext cx="457200" cy="457200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2920" y="512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097280" y="384048"/>
            <a:ext cx="5400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O que os dados revelaram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2920" y="2438400"/>
            <a:ext cx="1897380" cy="1676400"/>
          </a:xfrm>
          <a:prstGeom prst="roundRect">
            <a:avLst>
              <a:gd fmla="val 9000" name="adj"/>
            </a:avLst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31520" y="2560320"/>
            <a:ext cx="1440180" cy="582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−2,9</a:t>
            </a:r>
            <a:r>
              <a:rPr b="1" lang="en-US" sz="18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pts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31520" y="3142488"/>
            <a:ext cx="1440180" cy="880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de queda no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NPS médio</a:t>
            </a:r>
            <a:r>
              <a:rPr lang="en-US" sz="13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 quando a entrega atrasa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de 3 dias</a:t>
            </a:r>
            <a:r>
              <a:rPr lang="en-US" sz="13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583180" y="2438400"/>
            <a:ext cx="1897380" cy="1676400"/>
          </a:xfrm>
          <a:prstGeom prst="roundRect">
            <a:avLst>
              <a:gd fmla="val 9000" name="adj"/>
            </a:avLst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811780" y="2560320"/>
            <a:ext cx="1440180" cy="582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88</a:t>
            </a:r>
            <a:r>
              <a:rPr b="1" lang="en-US" sz="18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729950" y="3142500"/>
            <a:ext cx="16041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dos clientes com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ou mais chamadas</a:t>
            </a:r>
            <a:r>
              <a:rPr lang="en-US" sz="12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 de atendimento são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detratores</a:t>
            </a:r>
            <a:r>
              <a:rPr lang="en-US" sz="12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 — vs.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r>
              <a:rPr lang="en-US" sz="12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 dos demais.</a:t>
            </a:r>
            <a:endParaRPr sz="1300"/>
          </a:p>
        </p:txBody>
      </p:sp>
      <p:sp>
        <p:nvSpPr>
          <p:cNvPr id="82" name="Google Shape;82;p5"/>
          <p:cNvSpPr/>
          <p:nvPr/>
        </p:nvSpPr>
        <p:spPr>
          <a:xfrm>
            <a:off x="4663440" y="2438400"/>
            <a:ext cx="1897380" cy="1676400"/>
          </a:xfrm>
          <a:prstGeom prst="roundRect">
            <a:avLst>
              <a:gd fmla="val 9000" name="adj"/>
            </a:avLst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92040" y="2560320"/>
            <a:ext cx="1440180" cy="582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100</a:t>
            </a:r>
            <a:r>
              <a:rPr b="1" lang="en-US" sz="18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892040" y="3142488"/>
            <a:ext cx="1440180" cy="880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dos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promotores</a:t>
            </a:r>
            <a:r>
              <a:rPr lang="en-US" sz="13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 recompram em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até 30 dias</a:t>
            </a:r>
            <a:r>
              <a:rPr lang="en-US" sz="13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 após o pedido.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743700" y="2438400"/>
            <a:ext cx="1897380" cy="1676400"/>
          </a:xfrm>
          <a:prstGeom prst="roundRect">
            <a:avLst>
              <a:gd fmla="val 9000" name="adj"/>
            </a:avLst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972300" y="2560320"/>
            <a:ext cx="1440180" cy="582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&gt; 3</a:t>
            </a:r>
            <a:r>
              <a:rPr b="1" lang="en-US" sz="18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 dias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972300" y="3142488"/>
            <a:ext cx="1440180" cy="880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de atraso é o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ponto de ruptura</a:t>
            </a:r>
            <a:r>
              <a:rPr lang="en-US" sz="13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: acima disso, a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satisfação despenca</a:t>
            </a:r>
            <a:r>
              <a:rPr lang="en-US" sz="13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02920" y="512064"/>
            <a:ext cx="457200" cy="457200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2920" y="512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097280" y="384048"/>
            <a:ext cx="7589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O ponto de partida: um NPS em alerta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502920" y="1691640"/>
            <a:ext cx="1965960" cy="1371600"/>
          </a:xfrm>
          <a:prstGeom prst="rect">
            <a:avLst/>
          </a:prstGeom>
          <a:solidFill>
            <a:srgbClr val="081A24">
              <a:alpha val="92156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02920" y="178308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5000"/>
              <a:buFont typeface="Trebuchet MS"/>
              <a:buNone/>
            </a:pPr>
            <a:r>
              <a:rPr b="1" lang="en-US" sz="50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4,4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02920" y="26060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NPS médio (escala 0–10)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2920" y="3200400"/>
            <a:ext cx="1965960" cy="1371600"/>
          </a:xfrm>
          <a:prstGeom prst="rect">
            <a:avLst/>
          </a:prstGeom>
          <a:solidFill>
            <a:srgbClr val="081A24">
              <a:alpha val="92156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02920" y="3291840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rebuchet MS"/>
              <a:buNone/>
            </a:pPr>
            <a:r>
              <a:rPr b="1" lang="en-US" sz="5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4,0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02920" y="411480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Mediana das notas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697480" y="1691640"/>
            <a:ext cx="3246120" cy="2880360"/>
          </a:xfrm>
          <a:prstGeom prst="rect">
            <a:avLst/>
          </a:prstGeom>
          <a:solidFill>
            <a:srgbClr val="081A24">
              <a:alpha val="96078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6"/>
          <p:cNvGraphicFramePr/>
          <p:nvPr/>
        </p:nvGraphicFramePr>
        <p:xfrm>
          <a:off x="2743200" y="1783080"/>
          <a:ext cx="3154680" cy="26974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05" name="Google Shape;105;p6"/>
          <p:cNvSpPr/>
          <p:nvPr/>
        </p:nvSpPr>
        <p:spPr>
          <a:xfrm>
            <a:off x="6172200" y="1691640"/>
            <a:ext cx="2468880" cy="2880360"/>
          </a:xfrm>
          <a:prstGeom prst="rect">
            <a:avLst/>
          </a:prstGeom>
          <a:solidFill>
            <a:srgbClr val="13070E">
              <a:alpha val="92156"/>
            </a:srgbClr>
          </a:solidFill>
          <a:ln cap="flat" cmpd="sng" w="12700">
            <a:solidFill>
              <a:srgbClr val="5A1E3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355080" y="2011680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7F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FF3D7F"/>
                </a:solidFill>
                <a:latin typeface="Trebuchet MS"/>
                <a:ea typeface="Trebuchet MS"/>
                <a:cs typeface="Trebuchet MS"/>
                <a:sym typeface="Trebuchet MS"/>
              </a:rPr>
              <a:t>≈ 4 em cada 5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355080" y="254203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clientes são detratores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355080" y="3063240"/>
            <a:ext cx="21214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A base começa com saldo de NPS fortemente negativo. A pergunta passa a ser: o que separa quem ama de quem critica a marca?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02920" y="512064"/>
            <a:ext cx="457200" cy="457200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" y="512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1097280" y="384048"/>
            <a:ext cx="7589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A entrega no prazo é o divisor de águas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02920" y="1691640"/>
            <a:ext cx="5257800" cy="2971800"/>
          </a:xfrm>
          <a:prstGeom prst="rect">
            <a:avLst/>
          </a:prstGeom>
          <a:solidFill>
            <a:srgbClr val="081A24">
              <a:alpha val="96078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7"/>
          <p:cNvGraphicFramePr/>
          <p:nvPr/>
        </p:nvGraphicFramePr>
        <p:xfrm>
          <a:off x="594360" y="1874520"/>
          <a:ext cx="5074920" cy="26517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20" name="Google Shape;120;p7"/>
          <p:cNvSpPr/>
          <p:nvPr/>
        </p:nvSpPr>
        <p:spPr>
          <a:xfrm>
            <a:off x="5989320" y="1691640"/>
            <a:ext cx="2651760" cy="137160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172200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6,9</a:t>
            </a:r>
            <a:r>
              <a:rPr lang="en-US" sz="1500">
                <a:solidFill>
                  <a:srgbClr val="AFC6CE"/>
                </a:solidFill>
                <a:latin typeface="Trebuchet MS"/>
                <a:ea typeface="Trebuchet MS"/>
                <a:cs typeface="Trebuchet MS"/>
                <a:sym typeface="Trebuchet MS"/>
              </a:rPr>
              <a:t>  vs  </a:t>
            </a:r>
            <a:r>
              <a:rPr b="1" lang="en-US" sz="3000">
                <a:solidFill>
                  <a:srgbClr val="FF3D7F"/>
                </a:solidFill>
                <a:latin typeface="Trebuchet MS"/>
                <a:ea typeface="Trebuchet MS"/>
                <a:cs typeface="Trebuchet MS"/>
                <a:sym typeface="Trebuchet MS"/>
              </a:rPr>
              <a:t>4,1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172200" y="2542032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NPS de entregas no prazo vs. com atraso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989320" y="3291840"/>
            <a:ext cx="2651760" cy="1371600"/>
          </a:xfrm>
          <a:prstGeom prst="rect">
            <a:avLst/>
          </a:prstGeom>
          <a:solidFill>
            <a:srgbClr val="13070E">
              <a:alpha val="92156"/>
            </a:srgbClr>
          </a:solidFill>
          <a:ln cap="flat" cmpd="sng" w="12700">
            <a:solidFill>
              <a:srgbClr val="5A1E3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172200" y="3419856"/>
            <a:ext cx="2331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7F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FF3D7F"/>
                </a:solidFill>
                <a:latin typeface="Trebuchet MS"/>
                <a:ea typeface="Trebuchet MS"/>
                <a:cs typeface="Trebuchet MS"/>
                <a:sym typeface="Trebuchet MS"/>
              </a:rPr>
              <a:t>Ponto de ruptura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172200" y="3730752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A cada dia de atraso a nota despenca; após ~3 dias o cliente vira detrator quase certo.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02920" y="512064"/>
            <a:ext cx="457200" cy="457200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02920" y="512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8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41018"/>
                </a:solidFill>
                <a:latin typeface="Trebuchet MS"/>
                <a:ea typeface="Trebuchet MS"/>
                <a:cs typeface="Trebuchet MS"/>
                <a:sym typeface="Trebuchet MS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097280" y="384048"/>
            <a:ext cx="7589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O problema não é regional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02920" y="1691640"/>
            <a:ext cx="5257800" cy="2971800"/>
          </a:xfrm>
          <a:prstGeom prst="rect">
            <a:avLst/>
          </a:prstGeom>
          <a:solidFill>
            <a:srgbClr val="081A24">
              <a:alpha val="96078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" name="Google Shape;136;p8"/>
          <p:cNvGraphicFramePr/>
          <p:nvPr/>
        </p:nvGraphicFramePr>
        <p:xfrm>
          <a:off x="594360" y="1874520"/>
          <a:ext cx="5074920" cy="26517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37" name="Google Shape;137;p8"/>
          <p:cNvSpPr/>
          <p:nvPr/>
        </p:nvSpPr>
        <p:spPr>
          <a:xfrm>
            <a:off x="5989320" y="1691640"/>
            <a:ext cx="2651760" cy="137160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989320" y="3291840"/>
            <a:ext cx="2651760" cy="137160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199632" y="18516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Diferença mínima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199632" y="22631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Todas as regiões ficam entre 4,2 e 4,5. A geografia quase não explica o NPS.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199632" y="365760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foco deve ser o processo — entrega e atendimento — e não campanhas por praça.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02920" y="512064"/>
            <a:ext cx="457200" cy="457200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02920" y="512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1097280" y="384048"/>
            <a:ext cx="7589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Boa experiência se transforma em recompra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02920" y="1691640"/>
            <a:ext cx="5257800" cy="2971800"/>
          </a:xfrm>
          <a:prstGeom prst="rect">
            <a:avLst/>
          </a:prstGeom>
          <a:solidFill>
            <a:srgbClr val="081A24">
              <a:alpha val="96078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9"/>
          <p:cNvGraphicFramePr/>
          <p:nvPr/>
        </p:nvGraphicFramePr>
        <p:xfrm>
          <a:off x="594360" y="1874520"/>
          <a:ext cx="5074920" cy="26517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53" name="Google Shape;153;p9"/>
          <p:cNvSpPr/>
          <p:nvPr/>
        </p:nvSpPr>
        <p:spPr>
          <a:xfrm>
            <a:off x="5989320" y="1691640"/>
            <a:ext cx="2651760" cy="137160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989320" y="3291840"/>
            <a:ext cx="2651760" cy="137160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309360" y="188976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400"/>
              <a:buFont typeface="Trebuchet MS"/>
              <a:buNone/>
            </a:pPr>
            <a:r>
              <a:rPr b="1" lang="en-US" sz="24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+5 pontos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309360" y="24079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de NPS entre quem volta a comprar e quem não volta.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309360" y="3482340"/>
            <a:ext cx="214884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3D7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3D7F"/>
                </a:solidFill>
                <a:latin typeface="Calibri"/>
                <a:ea typeface="Calibri"/>
                <a:cs typeface="Calibri"/>
                <a:sym typeface="Calibri"/>
              </a:rPr>
              <a:t>Atenção: </a:t>
            </a:r>
            <a:r>
              <a:rPr lang="en-US" sz="12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a recompra é consequência da boa experiência, não a causa dela. Cuide da jornada e a fidelidade vem junto.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02920" y="512064"/>
            <a:ext cx="457200" cy="457200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502920" y="512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097280" y="384048"/>
            <a:ext cx="7589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O que realmente pesa na nota do cliente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02920" y="1645920"/>
            <a:ext cx="5440680" cy="91440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85800" y="1865376"/>
            <a:ext cx="475488" cy="475488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85800" y="186537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8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041018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371600" y="176479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Atraso na entrega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1371600" y="2103120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O fator nº 1. Pontualidade é o que mais separa promotores de detratores.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02920" y="2651760"/>
            <a:ext cx="5440680" cy="91440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85800" y="2871216"/>
            <a:ext cx="475488" cy="475488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85800" y="287121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8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041018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371600" y="277063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Reclamações registradas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371600" y="3108960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Volume de reclamações é o segundo maior sinal de insatisfação.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02920" y="3657600"/>
            <a:ext cx="5440680" cy="91440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85800" y="3877056"/>
            <a:ext cx="475488" cy="475488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85800" y="387705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8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rgbClr val="041018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371600" y="377647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Atendimento (contatos + tempo de resolução)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371600" y="4114800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Muito esforço e demora para resolver, empurram o cliente para detrator.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172200" y="1645920"/>
            <a:ext cx="2468880" cy="1417320"/>
          </a:xfrm>
          <a:prstGeom prst="rect">
            <a:avLst/>
          </a:prstGeom>
          <a:solidFill>
            <a:srgbClr val="13070E">
              <a:alpha val="92156"/>
            </a:srgbClr>
          </a:solidFill>
          <a:ln cap="flat" cmpd="sng" w="12700">
            <a:solidFill>
              <a:srgbClr val="5A1E3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355080" y="17830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7F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F3D7F"/>
                </a:solidFill>
                <a:latin typeface="Trebuchet MS"/>
                <a:ea typeface="Trebuchet MS"/>
                <a:cs typeface="Trebuchet MS"/>
                <a:sym typeface="Trebuchet MS"/>
              </a:rPr>
              <a:t>PESA POUCO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355080" y="2075688"/>
            <a:ext cx="21214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Região, idade e valor do pedido têm efeito pequeno sobre o NPS.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172200" y="3200400"/>
            <a:ext cx="2468880" cy="1463040"/>
          </a:xfrm>
          <a:prstGeom prst="rect">
            <a:avLst/>
          </a:prstGeom>
          <a:solidFill>
            <a:srgbClr val="081A24">
              <a:alpha val="92156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355080" y="331012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050"/>
              <a:buFont typeface="Trebuchet MS"/>
              <a:buNone/>
            </a:pPr>
            <a:r>
              <a:rPr b="1" lang="en-US" sz="105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PERFIL DETRATOR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355080" y="3566160"/>
            <a:ext cx="21214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Sofreu atraso, abriu reclamações e esperou pela resolução. O promotor é o oposto: recebeu no prazo, sem fricção.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4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02920" y="512064"/>
            <a:ext cx="457200" cy="457200"/>
          </a:xfrm>
          <a:prstGeom prst="ellipse">
            <a:avLst/>
          </a:prstGeom>
          <a:solidFill>
            <a:srgbClr val="33D6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02920" y="512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1018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041018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097280" y="384048"/>
            <a:ext cx="7589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2500"/>
              <a:buFont typeface="Trebuchet MS"/>
              <a:buNone/>
            </a:pPr>
            <a:r>
              <a:rPr b="1" lang="en-US" sz="25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Onde agir primeiro para virar o jogo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02920" y="1645920"/>
            <a:ext cx="4023360" cy="141732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704088" y="1847088"/>
            <a:ext cx="420624" cy="420624"/>
          </a:xfrm>
          <a:prstGeom prst="ellipse">
            <a:avLst/>
          </a:prstGeom>
          <a:solidFill>
            <a:srgbClr val="33D6E0">
              <a:alpha val="21960"/>
            </a:srgbClr>
          </a:solidFill>
          <a:ln cap="flat" cmpd="sng" w="15875">
            <a:solidFill>
              <a:srgbClr val="33D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04088" y="18470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280160" y="182880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Blindar a pontualidade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280160" y="2249424"/>
            <a:ext cx="312724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Tratar prazo de entrega como meta crítica: SLA por região/rota e alertas automáticos de risco de atraso antes que ele aconteça.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617720" y="1645920"/>
            <a:ext cx="4023360" cy="141732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818888" y="1847088"/>
            <a:ext cx="420624" cy="420624"/>
          </a:xfrm>
          <a:prstGeom prst="ellipse">
            <a:avLst/>
          </a:prstGeom>
          <a:solidFill>
            <a:srgbClr val="33D6E0">
              <a:alpha val="21960"/>
            </a:srgbClr>
          </a:solidFill>
          <a:ln cap="flat" cmpd="sng" w="15875">
            <a:solidFill>
              <a:srgbClr val="33D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818888" y="184708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5394960" y="182880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Resolver no 1º contato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5394960" y="2249424"/>
            <a:ext cx="312724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Reduzir tempo de resolução e número de contatos. Cada interação a mais é um passo rumo ao detrator.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02920" y="3200400"/>
            <a:ext cx="4023360" cy="141732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704088" y="3401568"/>
            <a:ext cx="420624" cy="420624"/>
          </a:xfrm>
          <a:prstGeom prst="ellipse">
            <a:avLst/>
          </a:prstGeom>
          <a:solidFill>
            <a:srgbClr val="33D6E0">
              <a:alpha val="21960"/>
            </a:srgbClr>
          </a:solidFill>
          <a:ln cap="flat" cmpd="sng" w="15875">
            <a:solidFill>
              <a:srgbClr val="33D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704088" y="3401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1280160" y="338328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Agir antes da reclamação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1280160" y="3803904"/>
            <a:ext cx="312724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Monitorar sinais (atraso, tentativas de entrega) e comunicar o cliente proativamente, sem esperar a pesquisa de NPS.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617720" y="3200400"/>
            <a:ext cx="4023360" cy="1417320"/>
          </a:xfrm>
          <a:prstGeom prst="rect">
            <a:avLst/>
          </a:prstGeom>
          <a:solidFill>
            <a:srgbClr val="0C2430">
              <a:alpha val="94117"/>
            </a:srgbClr>
          </a:solidFill>
          <a:ln cap="flat" cmpd="sng" w="12700">
            <a:solidFill>
              <a:srgbClr val="1C3A4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381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818888" y="3401568"/>
            <a:ext cx="420624" cy="420624"/>
          </a:xfrm>
          <a:prstGeom prst="ellipse">
            <a:avLst/>
          </a:prstGeom>
          <a:solidFill>
            <a:srgbClr val="33D6E0">
              <a:alpha val="21960"/>
            </a:srgbClr>
          </a:solidFill>
          <a:ln cap="flat" cmpd="sng" w="15875">
            <a:solidFill>
              <a:srgbClr val="33D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818888" y="34015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5394960" y="338328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Trebuchet MS"/>
              <a:buNone/>
            </a:pPr>
            <a:r>
              <a:rPr b="1" lang="en-US" sz="15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Proteger a 1ª compra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394960" y="3803904"/>
            <a:ext cx="3127248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AFC6C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Experiência inicial sem fricção é o que dispara a recompra — priorizar clientes novos e pedidos de alto valor.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90D">
              <a:alpha val="25882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0" y="1417320"/>
            <a:ext cx="9144000" cy="2468880"/>
          </a:xfrm>
          <a:prstGeom prst="rect">
            <a:avLst/>
          </a:prstGeom>
          <a:solidFill>
            <a:srgbClr val="03090D">
              <a:alpha val="7411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40080" y="1361313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A HISTÓRIA EM UMA FRASE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40080" y="2183130"/>
            <a:ext cx="7955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Entregar no prazo e resolver rápido</a:t>
            </a:r>
            <a:r>
              <a:rPr b="1" lang="en-US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é o caminho mais curto para transformar detratores em promotores.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40080" y="473659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3AC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A3AC"/>
                </a:solidFill>
                <a:latin typeface="Calibri"/>
                <a:ea typeface="Calibri"/>
                <a:cs typeface="Calibri"/>
                <a:sym typeface="Calibri"/>
              </a:rPr>
              <a:t>Storytelling com dados  ·  Tech Challenge Fase 1  ·  POSTECH AI Scientist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/>
          <p:nvPr/>
        </p:nvSpPr>
        <p:spPr>
          <a:xfrm>
            <a:off x="1140080" y="1820000"/>
            <a:ext cx="6863840" cy="15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D6E0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33D6E0"/>
                </a:solidFill>
                <a:latin typeface="Trebuchet MS"/>
                <a:ea typeface="Trebuchet MS"/>
                <a:cs typeface="Trebuchet MS"/>
                <a:sym typeface="Trebuchet MS"/>
              </a:rPr>
              <a:t>POS TECH  ·  AI SCIENTIST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lang="en-US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Obrigado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Clr>
                <a:srgbClr val="AFC6C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FC6CE"/>
                </a:solidFill>
                <a:latin typeface="Calibri"/>
                <a:ea typeface="Calibri"/>
                <a:cs typeface="Calibri"/>
                <a:sym typeface="Calibri"/>
              </a:rPr>
              <a:t>Benito  ·  Gabriel  ·  Mauricio  ·  Renan  ·  Sonia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2026-06-21T22:01:58Z</dcterms:created>
  <dc:creator>Sonia Andreia Ribeiro Miguel</dc:creator>
</cp:coreProperties>
</file>